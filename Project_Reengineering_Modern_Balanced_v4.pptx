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Project Reengineering – Strategic Technology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7315200" cy="27432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8542"/>
                </a:solidFill>
              </a:defRPr>
            </a:pPr>
            <a:r>
              <a:t>New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C2E"/>
                </a:solidFill>
              </a:defRPr>
            </a:pPr>
            <a:r>
              <a:t>140x</a:t>
            </a:r>
          </a:p>
          <a:p>
            <a:pPr algn="ctr">
              <a:defRPr sz="1300" b="1">
                <a:solidFill>
                  <a:srgbClr val="1E1E1E"/>
                </a:solidFill>
              </a:defRPr>
            </a:pPr>
            <a:r>
              <a:t>Throughput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120 → 17,000 exec/sec</a:t>
            </a:r>
          </a:p>
        </p:txBody>
      </p:sp>
      <p:sp>
        <p:nvSpPr>
          <p:cNvPr id="7" name="Rectangle 6"/>
          <p:cNvSpPr/>
          <p:nvPr/>
        </p:nvSpPr>
        <p:spPr>
          <a:xfrm>
            <a:off x="2368296" y="1828800"/>
            <a:ext cx="9144" cy="1645920"/>
          </a:xfrm>
          <a:prstGeom prst="rect">
            <a:avLst/>
          </a:prstGeom>
          <a:solidFill>
            <a:srgbClr val="D2D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8288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C2E"/>
                </a:solidFill>
              </a:defRPr>
            </a:pPr>
            <a:r>
              <a:t>18x</a:t>
            </a:r>
          </a:p>
          <a:p>
            <a:pPr algn="ctr">
              <a:defRPr sz="1300" b="1">
                <a:solidFill>
                  <a:srgbClr val="1E1E1E"/>
                </a:solidFill>
              </a:defRPr>
            </a:pPr>
            <a:r>
              <a:t>Recovery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3,600s → 200s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31336" y="1828800"/>
            <a:ext cx="9144" cy="1645920"/>
          </a:xfrm>
          <a:prstGeom prst="rect">
            <a:avLst/>
          </a:prstGeom>
          <a:solidFill>
            <a:srgbClr val="D2D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8288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C2E"/>
                </a:solidFill>
              </a:defRPr>
            </a:pPr>
            <a:r>
              <a:t>~6x</a:t>
            </a:r>
          </a:p>
          <a:p>
            <a:pPr algn="ctr">
              <a:defRPr sz="1300" b="1">
                <a:solidFill>
                  <a:srgbClr val="1E1E1E"/>
                </a:solidFill>
              </a:defRPr>
            </a:pPr>
            <a:r>
              <a:t>CPU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192 → 30 cores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4376" y="1828800"/>
            <a:ext cx="9144" cy="1645920"/>
          </a:xfrm>
          <a:prstGeom prst="rect">
            <a:avLst/>
          </a:prstGeom>
          <a:solidFill>
            <a:srgbClr val="D2D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8288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C2E"/>
                </a:solidFill>
              </a:defRPr>
            </a:pPr>
            <a:r>
              <a:t>~15x</a:t>
            </a:r>
          </a:p>
          <a:p>
            <a:pPr algn="ctr">
              <a:defRPr sz="1300" b="1">
                <a:solidFill>
                  <a:srgbClr val="1E1E1E"/>
                </a:solidFill>
              </a:defRPr>
            </a:pPr>
            <a:r>
              <a:t>Memory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635GB → 40GB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7416" y="1828800"/>
            <a:ext cx="9144" cy="1645920"/>
          </a:xfrm>
          <a:prstGeom prst="rect">
            <a:avLst/>
          </a:prstGeom>
          <a:solidFill>
            <a:srgbClr val="D2D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288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C2E"/>
                </a:solidFill>
              </a:defRPr>
            </a:pPr>
            <a:r>
              <a:t>4x | 30x</a:t>
            </a:r>
          </a:p>
          <a:p>
            <a:pPr algn="ctr">
              <a:defRPr sz="1300" b="1">
                <a:solidFill>
                  <a:srgbClr val="1E1E1E"/>
                </a:solidFill>
              </a:defRPr>
            </a:pPr>
            <a:r>
              <a:t>Capacity &amp; Provisioning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6M → 24M | 1m → 1d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74903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8542"/>
                </a:solidFill>
              </a:defRPr>
            </a:pPr>
            <a:r>
              <a:t>Current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160520"/>
            <a:ext cx="7315200" cy="18288"/>
          </a:xfrm>
          <a:prstGeom prst="rect">
            <a:avLst/>
          </a:prstGeom>
          <a:solidFill>
            <a:srgbClr val="D2D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542"/>
                </a:solidFill>
              </a:defRPr>
            </a:pPr>
            <a:r>
              <a:t>GBA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542"/>
                </a:solidFill>
              </a:defRPr>
            </a:pPr>
            <a:r>
              <a:t>Traderunner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t>Executions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3.5M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754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6.5M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t>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57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13 TB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257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1.5 TB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760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t>CPU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0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800 cores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760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50 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t>Throughput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263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800 msg/s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263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5,000–10,000 msg/s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6766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t>Env Split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6766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50 / 40 /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766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1E1E"/>
                </a:solidFill>
              </a:defRPr>
            </a:pPr>
            <a:r>
              <a:t>40 /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